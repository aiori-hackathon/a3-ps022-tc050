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rarthana.puthan@btech.christuniversity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tracted_p1_0_Im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1106501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11680"/>
            <a:ext cx="400026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E6"/>
                </a:solidFill>
                <a:latin typeface="Calibri"/>
              </a:defRPr>
            </a:pPr>
            <a:r>
              <a:rPr lang="en-US" dirty="0"/>
              <a:t>A3-PS022-TC050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Calibri"/>
              </a:defRPr>
            </a:pPr>
            <a:r>
              <a:t>eBPF/XDP Rate Limiting for DNS Query Floods in a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5297861" cy="21852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Team Members: Prarthana </a:t>
            </a:r>
            <a:r>
              <a:rPr lang="en-US" dirty="0" err="1"/>
              <a:t>Puthan</a:t>
            </a:r>
            <a:r>
              <a:rPr lang="en-US" dirty="0"/>
              <a:t> </a:t>
            </a:r>
            <a:r>
              <a:rPr lang="en-US" dirty="0" err="1"/>
              <a:t>Purayil</a:t>
            </a:r>
            <a:r>
              <a:rPr lang="en-US" dirty="0"/>
              <a:t>, Richa Felix</a:t>
            </a:r>
          </a:p>
          <a:p>
            <a:pPr>
              <a:spcAft>
                <a:spcPts val="4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Mentored by: Dr. Shamanth N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rPr lang="en-US" dirty="0">
                <a:hlinkClick r:id="rId3"/>
              </a:rPr>
              <a:t>prarthana.puthan@btech.christuniversity.in</a:t>
            </a:r>
            <a:r>
              <a:rPr lang="en-US" dirty="0"/>
              <a:t> 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endParaRPr lang="en-US" dirty="0"/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endParaRPr lang="en-US" dirty="0"/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rPr dirty="0"/>
              <a:t>AIORI Hackathon 3</a:t>
            </a:r>
          </a:p>
          <a:p>
            <a:pPr>
              <a:defRPr sz="1600">
                <a:solidFill>
                  <a:srgbClr val="000000"/>
                </a:solidFill>
                <a:latin typeface="Calibri"/>
              </a:defRPr>
            </a:pPr>
            <a:r>
              <a:rPr dirty="0"/>
              <a:t>October 31,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0" y="225921"/>
            <a:ext cx="693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E6"/>
                </a:solidFill>
                <a:latin typeface="Calibri"/>
              </a:defRPr>
            </a:pPr>
            <a:r>
              <a:rPr dirty="0"/>
              <a:t>AIORI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7295" y="225920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E6"/>
                </a:solidFill>
                <a:latin typeface="Calibri"/>
              </a:defRPr>
            </a:pPr>
            <a:r>
              <a:rPr dirty="0"/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453681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E6"/>
                </a:solidFill>
                <a:latin typeface="Calibri"/>
              </a:defRPr>
            </a:pPr>
            <a:r>
              <a:rPr lang="en-US" dirty="0"/>
              <a:t>Prarthana </a:t>
            </a:r>
            <a:r>
              <a:rPr lang="en-US" dirty="0" err="1"/>
              <a:t>Puthan</a:t>
            </a:r>
            <a:r>
              <a:rPr lang="en-US" dirty="0"/>
              <a:t> </a:t>
            </a:r>
            <a:r>
              <a:rPr lang="en-US" dirty="0" err="1"/>
              <a:t>Purayil</a:t>
            </a:r>
            <a:r>
              <a:rPr lang="en-US" dirty="0"/>
              <a:t>, Richa Felix </a:t>
            </a:r>
            <a:r>
              <a:rPr dirty="0"/>
              <a:t>• </a:t>
            </a:r>
            <a:r>
              <a:rPr lang="en-US" dirty="0"/>
              <a:t>A3-PS022-TC050 </a:t>
            </a:r>
            <a:r>
              <a:rPr dirty="0"/>
              <a:t>•  October 31,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00E6"/>
                </a:solidFill>
                <a:latin typeface="Calibri"/>
              </a:defRPr>
            </a:pPr>
            <a: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341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E6"/>
                </a:solidFill>
                <a:latin typeface="Calibri"/>
              </a:defRPr>
            </a:pPr>
            <a:r>
              <a:t>Problem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0000"/>
                </a:solidFill>
                <a:latin typeface="Calibri"/>
              </a:defRPr>
            </a:pPr>
            <a:r>
              <a:t>Clear outline of the problem being addressed. Use bullet points for key issues.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38325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 dirty="0">
                <a:solidFill>
                  <a:srgbClr val="000000"/>
                </a:solidFill>
              </a:rPr>
              <a:t>• Volumetric UDP DNS Floods:</a:t>
            </a:r>
            <a:r>
              <a:rPr sz="1600" dirty="0">
                <a:solidFill>
                  <a:srgbClr val="1E293B"/>
                </a:solidFill>
              </a:rPr>
              <a:t> High-rate UDP query floods overwhelm Linux server network stacks, causing buffer exhaustion and high packet drop rates at the application layer.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000000"/>
                </a:solidFill>
              </a:rPr>
              <a:t>• Kernel Memory &amp; Socket Overhead:</a:t>
            </a:r>
            <a:r>
              <a:rPr sz="1600" dirty="0">
                <a:solidFill>
                  <a:srgbClr val="1E293B"/>
                </a:solidFill>
              </a:rPr>
              <a:t> In standard Linux networking, every incoming packet undergoes early driver processing, DMA transfers, and </a:t>
            </a:r>
            <a:r>
              <a:rPr sz="1600" dirty="0" err="1">
                <a:solidFill>
                  <a:srgbClr val="1E293B"/>
                </a:solidFill>
              </a:rPr>
              <a:t>sk_buff</a:t>
            </a:r>
            <a:r>
              <a:rPr sz="1600" dirty="0">
                <a:solidFill>
                  <a:srgbClr val="1E293B"/>
                </a:solidFill>
              </a:rPr>
              <a:t> structure allocation. Under flood conditions, this consumes excessive CPU cycles before packet legitimacy is evaluated.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000000"/>
                </a:solidFill>
              </a:rPr>
              <a:t>• Service Degradation for Legitimate Queries:</a:t>
            </a:r>
            <a:r>
              <a:rPr sz="1600" dirty="0">
                <a:solidFill>
                  <a:srgbClr val="1E293B"/>
                </a:solidFill>
              </a:rPr>
              <a:t> Saturated network queues lead to severe latency spikes and dropped requests for valid DNS queries, effectively causing Denial of Service (DoS) for critical infrastructure services.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000000"/>
                </a:solidFill>
              </a:rPr>
              <a:t>• Inefficiency of User-Space Filtering:</a:t>
            </a:r>
            <a:r>
              <a:rPr sz="1600" dirty="0">
                <a:solidFill>
                  <a:srgbClr val="1E293B"/>
                </a:solidFill>
              </a:rPr>
              <a:t> Traditional firewalls or application-level rate limiters execute post-context switch, meaning the kernel has already expended substantial CPU resources processing malformed or malicious queries.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000000"/>
                </a:solidFill>
              </a:rPr>
              <a:t>• Necessity for In-Kernel Early Drops:</a:t>
            </a:r>
            <a:r>
              <a:rPr sz="1600" dirty="0">
                <a:solidFill>
                  <a:srgbClr val="1E293B"/>
                </a:solidFill>
              </a:rPr>
              <a:t> High-throughput DNS defense requires ultra-early packet inspection directly at the NIC driver layer, dropping flood traffic prior to socket buffer allocation.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587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00E6"/>
                </a:solidFill>
                <a:latin typeface="Calibri"/>
              </a:defRPr>
            </a:pPr>
            <a:r>
              <a:t>AIORI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50" y="22860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00E6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453681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E6"/>
                </a:solidFill>
                <a:latin typeface="Calibri"/>
              </a:defRPr>
            </a:pPr>
            <a:r>
              <a:rPr lang="en-US" dirty="0"/>
              <a:t>Prarthana </a:t>
            </a:r>
            <a:r>
              <a:rPr lang="en-US" dirty="0" err="1"/>
              <a:t>Puthan</a:t>
            </a:r>
            <a:r>
              <a:rPr lang="en-US" dirty="0"/>
              <a:t> </a:t>
            </a:r>
            <a:r>
              <a:rPr lang="en-US" dirty="0" err="1"/>
              <a:t>Purayil</a:t>
            </a:r>
            <a:r>
              <a:rPr lang="en-US" dirty="0"/>
              <a:t>, Richa Felix • A3-PS022-TC050 •  October 31,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00E6"/>
                </a:solidFill>
                <a:latin typeface="Calibri"/>
              </a:defRPr>
            </a:pPr>
            <a:r>
              <a:t>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E6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0000"/>
                </a:solidFill>
                <a:latin typeface="Calibri"/>
              </a:defRPr>
            </a:pPr>
            <a:r>
              <a:t>It should capture the background necessary to understand the problem and the proposed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</a:rPr>
              <a:t>• DNS &amp; UDP Query Processing:</a:t>
            </a:r>
            <a:r>
              <a:rPr sz="1500">
                <a:solidFill>
                  <a:srgbClr val="1E293B"/>
                </a:solidFill>
              </a:rPr>
              <a:t> DNS operates predominantly over connectionless UDP (port 53), making it susceptible to rapid query bursts without TCP handshake overhead.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</a:rPr>
              <a:t>• Linux Networking Traversal Path:</a:t>
            </a:r>
            <a:r>
              <a:rPr sz="1500">
                <a:solidFill>
                  <a:srgbClr val="1E293B"/>
                </a:solidFill>
              </a:rPr>
              <a:t> Ingress packets traverse NIC Hardware Ring → Driver DMA → sk_buff Allocation → IP/UDP Stack → Socket Buffer → User-space DNS Daemon (e.g., BIND9/Unbound).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</a:rPr>
              <a:t>• eBPF (Extended Berkeley Packet Filter):</a:t>
            </a:r>
            <a:r>
              <a:rPr sz="1500">
                <a:solidFill>
                  <a:srgbClr val="1E293B"/>
                </a:solidFill>
              </a:rPr>
              <a:t> eBPF provides a sandboxed, event-driven bytecode execution engine inside the Linux kernel, enabling safe custom logic without modifying kernel source code [1].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</a:rPr>
              <a:t>• XDP (eXpress Data Path):</a:t>
            </a:r>
            <a:r>
              <a:rPr sz="1500">
                <a:solidFill>
                  <a:srgbClr val="1E293B"/>
                </a:solidFill>
              </a:rPr>
              <a:t> XDP offers the lowest-level packet processing hook in the Linux network stack, running directly inside the NIC driver prior to memory (sk_buff) allocation.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</a:rPr>
              <a:t>• Early Packet Action Primitives:</a:t>
            </a:r>
            <a:r>
              <a:rPr sz="1500">
                <a:solidFill>
                  <a:srgbClr val="1E293B"/>
                </a:solidFill>
              </a:rPr>
              <a:t> XDP programs return XDP_DROP to discard packets instantly at line-rate, or XDP_PASS to forward valid traffic to the OS network stack.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</a:rPr>
              <a:t>• Trade-offs &amp; Verification Constraints:</a:t>
            </a:r>
            <a:r>
              <a:rPr sz="1500">
                <a:solidFill>
                  <a:srgbClr val="1E293B"/>
                </a:solidFill>
              </a:rPr>
              <a:t> XDP provides nanosecond-level packet processing but enforces strict verifier constraints (bounded loops, memory boundary safety, and limited runtime complexity).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93945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00E6"/>
                </a:solidFill>
                <a:latin typeface="Calibri"/>
              </a:defRPr>
            </a:pPr>
            <a:r>
              <a:t>AIORI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6850" y="1828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00E6"/>
                </a:solidFill>
                <a:latin typeface="Calibri"/>
              </a:defRPr>
            </a:pPr>
            <a:r>
              <a:t>Literature &amp; RFC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453681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E6"/>
                </a:solidFill>
                <a:latin typeface="Calibri"/>
              </a:defRPr>
            </a:pPr>
            <a:r>
              <a:rPr lang="en-US" dirty="0"/>
              <a:t>Prarthana </a:t>
            </a:r>
            <a:r>
              <a:rPr lang="en-US" dirty="0" err="1"/>
              <a:t>Puthan</a:t>
            </a:r>
            <a:r>
              <a:rPr lang="en-US" dirty="0"/>
              <a:t> </a:t>
            </a:r>
            <a:r>
              <a:rPr lang="en-US" dirty="0" err="1"/>
              <a:t>Purayil</a:t>
            </a:r>
            <a:r>
              <a:rPr lang="en-US" dirty="0"/>
              <a:t>, Richa Felix • A3-PS022-TC050 •  October 31,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00E6"/>
                </a:solidFill>
                <a:latin typeface="Calibri"/>
              </a:defRPr>
            </a:pPr>
            <a:r>
              <a:t>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E6"/>
                </a:solidFill>
                <a:latin typeface="Calibri"/>
              </a:defRPr>
            </a:pPr>
            <a:r>
              <a:t>Literature &amp; RFC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0000"/>
                </a:solidFill>
                <a:latin typeface="Calibri"/>
              </a:defRPr>
            </a:pPr>
            <a:r>
              <a:t>Do a detailed study of exisiting proposals, studies and standards. But only mention the most relevant 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</a:rPr>
              <a:t>• RFC 1034 &amp; RFC 1035 — Domain Name Standards [1]:</a:t>
            </a:r>
            <a:r>
              <a:rPr sz="1600">
                <a:solidFill>
                  <a:srgbClr val="1E293B"/>
                </a:solidFill>
              </a:rPr>
              <a:t> Establishes the authoritative specifications for DNS message format, header structure (ID, Flags, QDCOUNT), and UDP transport conventions.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</a:rPr>
              <a:t>• Linux Kernel eBPF/XDP Documentation [2]:</a:t>
            </a:r>
            <a:r>
              <a:rPr sz="1600">
                <a:solidFill>
                  <a:srgbClr val="1E293B"/>
                </a:solidFill>
              </a:rPr>
              <a:t> Outlines the formal architecture for eBPF kernel sub-systems, verifier safety checking, driver-level Native XDP vs Generic XDP deployment, and lockless BPF map primitives.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</a:rPr>
              <a:t>• nftables Baseline Packet Filtering [3]:</a:t>
            </a:r>
            <a:r>
              <a:rPr sz="1600">
                <a:solidFill>
                  <a:srgbClr val="1E293B"/>
                </a:solidFill>
              </a:rPr>
              <a:t> Netfilter framework replacement providing kernel-level packet classification; operates after SKB creation, introducing higher per-packet memory and CPU overhead compared to XDP.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</a:rPr>
              <a:t>• High-Performance eBPF/XDP DDoS Research [4]:</a:t>
            </a:r>
            <a:r>
              <a:rPr sz="1600">
                <a:solidFill>
                  <a:srgbClr val="1E293B"/>
                </a:solidFill>
              </a:rPr>
              <a:t> Peer-reviewed benchmarks demonstrate that driver-level XDP filtering handles up to 10x higher packet rates and reduces CPU overhead by over 70% compared to iptables/nftables under high-rate UDP floods.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5112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00E6"/>
                </a:solidFill>
                <a:latin typeface="Calibri"/>
              </a:defRPr>
            </a:pPr>
            <a:r>
              <a:t>AIORI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3500" y="1828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00E6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453681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E6"/>
                </a:solidFill>
                <a:latin typeface="Calibri"/>
              </a:defRPr>
            </a:pPr>
            <a:r>
              <a:rPr lang="en-US" dirty="0"/>
              <a:t>Prarthana </a:t>
            </a:r>
            <a:r>
              <a:rPr lang="en-US" dirty="0" err="1"/>
              <a:t>Puthan</a:t>
            </a:r>
            <a:r>
              <a:rPr lang="en-US" dirty="0"/>
              <a:t> </a:t>
            </a:r>
            <a:r>
              <a:rPr lang="en-US" dirty="0" err="1"/>
              <a:t>Purayil</a:t>
            </a:r>
            <a:r>
              <a:rPr lang="en-US" dirty="0"/>
              <a:t>, Richa Felix • A3-PS022-TC050 •  October 31,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00E6"/>
                </a:solidFill>
                <a:latin typeface="Calibri"/>
              </a:defRPr>
            </a:pPr>
            <a: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E6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0000"/>
                </a:solidFill>
                <a:latin typeface="Calibri"/>
              </a:defRPr>
            </a:pPr>
            <a:r>
              <a:t>Detailed description of the overall solution.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00E6"/>
                </a:solidFill>
              </a:defRPr>
            </a:pPr>
            <a:r>
              <a:t>System Architecture &amp; Operational Workflow: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1. Host A (Traffic Generator) generates synthetic DNS query floods and legitimate DNS queries over an isolated link.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2. Host B (XDP Filter Target) receives raw packets at its network interface.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3. An XDP program intercepts incoming packets at the NIC driver layer prior to OS network stack allocation.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4. Bounded C packet parser safely validates Ethernet, IPv4/IPv6, and UDP headers, extracting DNS Query ID &amp; QDCOUNT.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5. Per-Source IP rate limits (via BPF_MAP_TYPE_LRU_HASH) and Global query rate limits are verified in nanoseconds.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6. Traffic exceeding rate thresholds is immediately dropped via XDP_DROP.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7. Permitted DNS queries pass through XDP_PASS to the OS stack for fulfillment by the DNS server (BIND9/Unbound).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8. User-space control daemon polls BPF ring buffers to export real-time drop statistics, throughput, and latency metrics.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00000"/>
                </a:solidFill>
              </a:rPr>
              <a:t>Technology Stack: </a:t>
            </a:r>
            <a:r>
              <a:rPr sz="1500">
                <a:solidFill>
                  <a:srgbClr val="1E293B"/>
                </a:solidFill>
              </a:rPr>
              <a:t>Linux (Kernel 6.x), C (eBPF Kernel Code), XDP (Native/Generic Hook), Clang/LLVM, libbpf, Python (Automation &amp; Metrics), nftables (Baseline).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0916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00E6"/>
                </a:solidFill>
                <a:latin typeface="Calibri"/>
              </a:defRPr>
            </a:pPr>
            <a:r>
              <a:rPr dirty="0"/>
              <a:t>AIORI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" y="20574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00E6"/>
                </a:solidFill>
                <a:latin typeface="Calibri"/>
              </a:defRPr>
            </a:pPr>
            <a:r>
              <a:rPr dirty="0"/>
              <a:t>Solution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453681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E6"/>
                </a:solidFill>
                <a:latin typeface="Calibri"/>
              </a:defRPr>
            </a:pPr>
            <a:r>
              <a:rPr lang="en-US" dirty="0"/>
              <a:t>Prarthana </a:t>
            </a:r>
            <a:r>
              <a:rPr lang="en-US" dirty="0" err="1"/>
              <a:t>Puthan</a:t>
            </a:r>
            <a:r>
              <a:rPr lang="en-US" dirty="0"/>
              <a:t> </a:t>
            </a:r>
            <a:r>
              <a:rPr lang="en-US" dirty="0" err="1"/>
              <a:t>Purayil</a:t>
            </a:r>
            <a:r>
              <a:rPr lang="en-US" dirty="0"/>
              <a:t>, Richa Felix • A3-PS022-TC050 •  October 31,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00E6"/>
                </a:solidFill>
                <a:latin typeface="Calibri"/>
              </a:defRPr>
            </a:pPr>
            <a: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E6"/>
                </a:solidFill>
                <a:latin typeface="Calibri"/>
              </a:defRPr>
            </a:pPr>
            <a:r>
              <a:t>Optimization Proposed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0000"/>
                </a:solidFill>
                <a:latin typeface="Calibri"/>
              </a:defRPr>
            </a:pPr>
            <a:r>
              <a:t>List of optimizations and enhancements. Use a table to compare before and after scenarios.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0000"/>
                </a:solidFill>
              </a:defRPr>
            </a:pPr>
            <a:r>
              <a:t>Key Architectural Optimizations: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Zero-SKB Allocation Overhead: Drops unwanted DNS flood traffic directly at NIC driver before kernel memory allocation.</a:t>
            </a:r>
            <a:br/>
            <a:r>
              <a:t>• Dual-Tier Rate Limiting: Lockless BPF LRU maps for per-source IP tracking combined with atomic global query counters.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834640"/>
          <a:ext cx="1072865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332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 / Scenario</a:t>
                      </a:r>
                    </a:p>
                  </a:txBody>
                  <a:tcPr anchor="ctr">
                    <a:solidFill>
                      <a:srgbClr val="000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No-Filter Baseline</a:t>
                      </a:r>
                    </a:p>
                  </a:txBody>
                  <a:tcPr anchor="ctr">
                    <a:solidFill>
                      <a:srgbClr val="000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nftables Baseline</a:t>
                      </a:r>
                    </a:p>
                  </a:txBody>
                  <a:tcPr anchor="ctr">
                    <a:solidFill>
                      <a:srgbClr val="000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eBPF/XDP Solution</a:t>
                      </a:r>
                    </a:p>
                  </a:txBody>
                  <a:tcPr anchor="ctr">
                    <a:solidFill>
                      <a:srgbClr val="000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Filtering Layer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User-Space Socket Drop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Netfilter (Post-SKB)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E6"/>
                          </a:solidFill>
                          <a:latin typeface="Calibri"/>
                        </a:defRPr>
                      </a:pPr>
                      <a:r>
                        <a:t>NIC Driver (Pre-SKB XDP Hook)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Processing Overhead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High (Full Kernel Stack Traversal)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Medium (SKB &amp; Netfilter Rules)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E6"/>
                          </a:solidFill>
                          <a:latin typeface="Calibri"/>
                        </a:defRPr>
                      </a:pPr>
                      <a:r>
                        <a:t>Ultra-Low (Nanosecond Driver Hook)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Hypothesized CPU Load @ Flood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~95 – 100% (CPU Saturated)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~60 – 75% (Kernel Netfilter Overhead)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E6"/>
                          </a:solidFill>
                          <a:latin typeface="Calibri"/>
                        </a:defRPr>
                      </a:pPr>
                      <a:r>
                        <a:t>~15 – 25% (Minimal Driver Load)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Hypothesized Packet Drop Rate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0% Early (Server Queue Overflow)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~70 – 80% (Limited by SKB Alloc)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E6"/>
                          </a:solidFill>
                          <a:latin typeface="Calibri"/>
                        </a:defRPr>
                      </a:pPr>
                      <a:r>
                        <a:t>&gt; 98% (Early Line-Rate Drops)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Max Throughput Capacity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~1.2 Mpps (System Limit)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~3.5 Mpps (Netfilter Bound)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E6"/>
                          </a:solidFill>
                          <a:latin typeface="Calibri"/>
                        </a:defRPr>
                      </a:pPr>
                      <a:r>
                        <a:t>&gt; 10 Mpps (Driver Line-Rate)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Legitimate Query Success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&lt; 20% (High Queue Drops)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~65 – 75% (Buffer Contention)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E6"/>
                          </a:solidFill>
                          <a:latin typeface="Calibri"/>
                        </a:defRPr>
                      </a:pPr>
                      <a:r>
                        <a:t>&gt; 95% (Protected Channel)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* Note: Performance metrics represent target hypotheses to be empirically benchmarked during laboratory experimentation.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4303394" y="201722"/>
            <a:ext cx="19069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E6"/>
                </a:solidFill>
                <a:latin typeface="Calibri"/>
              </a:defRPr>
            </a:pPr>
            <a:r>
              <a:rPr dirty="0"/>
              <a:t>AIORI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4950" y="20172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00E6"/>
                </a:solidFill>
                <a:latin typeface="Calibri"/>
              </a:defRPr>
            </a:pPr>
            <a:r>
              <a:t>Architecture Design (UML Diagram)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453681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E6"/>
                </a:solidFill>
                <a:latin typeface="Calibri"/>
              </a:defRPr>
            </a:pPr>
            <a:r>
              <a:rPr lang="en-US" dirty="0"/>
              <a:t>Prarthana </a:t>
            </a:r>
            <a:r>
              <a:rPr lang="en-US" dirty="0" err="1"/>
              <a:t>Puthan</a:t>
            </a:r>
            <a:r>
              <a:rPr lang="en-US" dirty="0"/>
              <a:t> </a:t>
            </a:r>
            <a:r>
              <a:rPr lang="en-US" dirty="0" err="1"/>
              <a:t>Purayil</a:t>
            </a:r>
            <a:r>
              <a:rPr lang="en-US" dirty="0"/>
              <a:t>, Richa Felix • A3-PS022-TC050 •  October 31,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00E6"/>
                </a:solidFill>
                <a:latin typeface="Calibri"/>
              </a:defRPr>
            </a:pPr>
            <a:r>
              <a:t>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E6"/>
                </a:solidFill>
                <a:latin typeface="Calibri"/>
              </a:defRPr>
            </a:pPr>
            <a:r>
              <a:t>Solution Architecture &amp;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0000"/>
                </a:solidFill>
                <a:latin typeface="Calibri"/>
              </a:defRPr>
            </a:pPr>
            <a:r>
              <a:t>Visual: Flowchart or diagram showing the optimization process.</a:t>
            </a:r>
          </a:p>
        </p:txBody>
      </p:sp>
      <p:pic>
        <p:nvPicPr>
          <p:cNvPr id="8" name="Picture 7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0728655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00E6"/>
                </a:solidFill>
                <a:latin typeface="Calibri"/>
              </a:defRPr>
            </a:pPr>
            <a:r>
              <a:t>Figure: System Architecture UML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4512945" y="219075"/>
            <a:ext cx="2621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E6"/>
                </a:solidFill>
                <a:latin typeface="Calibri"/>
              </a:defRPr>
            </a:pPr>
            <a:r>
              <a:rPr dirty="0"/>
              <a:t>AIORI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14950" y="228600"/>
            <a:ext cx="14192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E6"/>
                </a:solidFill>
                <a:latin typeface="Calibri"/>
              </a:defRPr>
            </a:pPr>
            <a:r>
              <a:rPr dirty="0"/>
              <a:t>Data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453681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E6"/>
                </a:solidFill>
                <a:latin typeface="Calibri"/>
              </a:defRPr>
            </a:pPr>
            <a:r>
              <a:rPr lang="en-US" dirty="0"/>
              <a:t>Prarthana </a:t>
            </a:r>
            <a:r>
              <a:rPr lang="en-US" dirty="0" err="1"/>
              <a:t>Puthan</a:t>
            </a:r>
            <a:r>
              <a:rPr lang="en-US" dirty="0"/>
              <a:t> </a:t>
            </a:r>
            <a:r>
              <a:rPr lang="en-US" dirty="0" err="1"/>
              <a:t>Purayil</a:t>
            </a:r>
            <a:r>
              <a:rPr lang="en-US" dirty="0"/>
              <a:t>, Richa Felix • A3-PS022-TC050 •  October 31,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00E6"/>
                </a:solidFill>
                <a:latin typeface="Calibri"/>
              </a:defRPr>
            </a:pPr>
            <a: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E6"/>
                </a:solidFill>
                <a:latin typeface="Calibri"/>
              </a:defRPr>
            </a:pPr>
            <a:r>
              <a:t>Data Flow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0000"/>
                </a:solidFill>
                <a:latin typeface="Calibri"/>
              </a:defRPr>
            </a:pPr>
            <a:r>
              <a:t>Overview of the architecture. Include the flow chart diagram created earlier. Visual: Diagrams or architecture visuals.</a:t>
            </a:r>
          </a:p>
        </p:txBody>
      </p:sp>
      <p:pic>
        <p:nvPicPr>
          <p:cNvPr id="8" name="Picture 7" descr="data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46885"/>
            <a:ext cx="10728655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00E6"/>
                </a:solidFill>
                <a:latin typeface="Calibri"/>
              </a:defRPr>
            </a:pPr>
            <a:r>
              <a:t>Figure: Data Flow Diagram (DFD)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4617720" y="228600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E6"/>
                </a:solidFill>
                <a:latin typeface="Calibri"/>
              </a:defRPr>
            </a:pPr>
            <a:r>
              <a:rPr dirty="0"/>
              <a:t>AIORI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228600"/>
            <a:ext cx="15906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E6"/>
                </a:solidFill>
                <a:latin typeface="Calibri"/>
              </a:defRPr>
            </a:pPr>
            <a:r>
              <a:rPr dirty="0"/>
              <a:t>Deployment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453681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E6"/>
                </a:solidFill>
                <a:latin typeface="Calibri"/>
              </a:defRPr>
            </a:pPr>
            <a:r>
              <a:rPr lang="en-US" dirty="0"/>
              <a:t>Prarthana </a:t>
            </a:r>
            <a:r>
              <a:rPr lang="en-US" dirty="0" err="1"/>
              <a:t>Puthan</a:t>
            </a:r>
            <a:r>
              <a:rPr lang="en-US" dirty="0"/>
              <a:t> </a:t>
            </a:r>
            <a:r>
              <a:rPr lang="en-US" dirty="0" err="1"/>
              <a:t>Purayil</a:t>
            </a:r>
            <a:r>
              <a:rPr lang="en-US" dirty="0"/>
              <a:t>, Richa Felix • A3-PS022-TC050 •  October 31,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00E6"/>
                </a:solidFill>
                <a:latin typeface="Calibri"/>
              </a:defRPr>
            </a:pPr>
            <a: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E6"/>
                </a:solidFill>
                <a:latin typeface="Calibri"/>
              </a:defRPr>
            </a:pPr>
            <a:r>
              <a:t>Deployment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0000"/>
                </a:solidFill>
                <a:latin typeface="Calibri"/>
              </a:defRPr>
            </a:pPr>
            <a:r>
              <a:t>Clearly define the deployment milestones and methodology.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Dates (2026)</a:t>
                      </a:r>
                    </a:p>
                  </a:txBody>
                  <a:tcPr anchor="ctr">
                    <a:solidFill>
                      <a:srgbClr val="000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 / Milestone</a:t>
                      </a:r>
                    </a:p>
                  </a:txBody>
                  <a:tcPr anchor="ctr">
                    <a:solidFill>
                      <a:srgbClr val="000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Technical Tasks &amp; Deliverables</a:t>
                      </a:r>
                    </a:p>
                  </a:txBody>
                  <a:tcPr anchor="ctr">
                    <a:solidFill>
                      <a:srgbClr val="000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 – 17 Oct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Research &amp;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Analyze DNS RFC specs, eBPF verifier safety rules, threat model, and design dual-tier rate limiting architecture.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 – 19 Oct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Environment Setup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Provision dual Linux hosts (Host A / Host B), setup veth/isolated lab network, and install BIND9 + LLVM toolchain.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 – 23 Oct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eBPF/XDP Implementation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Develop XDP C program with bounded UDP parser, BPF_MAP_TYPE_LRU_HASH maps, per-source/global limits, and libbpf loader.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 – 25 Oct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Baseline Configuration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Configure no-filter control baseline and set up equivalent nftables rate-limiting rulesets for comparative benchmarking.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26 – 28 Oct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Synthetic Flood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Execute flood testing across 3 traffic patterns (Constant UDP flood, Burst DNS flood, Mixed legitimate/flood traffic).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 – 30 Oct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Performance Evaluation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Collect and analyze CPU load, packet throughput (Mpps), XDP drop ratio, and legitimate DNS query resolution latency.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31 Oct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Finalization &amp; Submission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Package prototype codebase, complete comprehensive technical documentation, and submit final hackathon deliverables.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00E6"/>
                </a:solidFill>
                <a:latin typeface="Calibri"/>
              </a:defRPr>
            </a:pPr>
            <a:r>
              <a:t>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453681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E6"/>
                </a:solidFill>
                <a:latin typeface="Calibri"/>
              </a:defRPr>
            </a:pPr>
            <a:r>
              <a:rPr lang="en-US" dirty="0"/>
              <a:t>Prarthana </a:t>
            </a:r>
            <a:r>
              <a:rPr lang="en-US" dirty="0" err="1"/>
              <a:t>Puthan</a:t>
            </a:r>
            <a:r>
              <a:rPr lang="en-US" dirty="0"/>
              <a:t> </a:t>
            </a:r>
            <a:r>
              <a:rPr lang="en-US" dirty="0" err="1"/>
              <a:t>Purayil</a:t>
            </a:r>
            <a:r>
              <a:rPr lang="en-US" dirty="0"/>
              <a:t>, Richa Felix • A3-PS022-TC050 •  October 31,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00E6"/>
                </a:solidFill>
                <a:latin typeface="Calibri"/>
              </a:defRPr>
            </a:pPr>
            <a:r>
              <a:t>10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E6"/>
                </a:solidFill>
                <a:latin typeface="Calibri"/>
              </a:defRPr>
            </a:pPr>
            <a:r>
              <a:t>Bibliography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0000E6"/>
                </a:solidFill>
              </a:rPr>
              <a:t>[1]</a:t>
            </a:r>
            <a:r>
              <a:rPr sz="1500">
                <a:solidFill>
                  <a:srgbClr val="1E293B"/>
                </a:solidFill>
              </a:rPr>
              <a:t> P. Mockapetris, "Domain Names - Concepts and Facilities," RFC 1034, and "Domain Names - Implementation and Specification," RFC 1035, Internet Engineering Task Force (IETF), Nov. 1987.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0000E6"/>
                </a:solidFill>
              </a:rPr>
              <a:t>[2]</a:t>
            </a:r>
            <a:r>
              <a:rPr sz="1500">
                <a:solidFill>
                  <a:srgbClr val="1E293B"/>
                </a:solidFill>
              </a:rPr>
              <a:t> Linux Kernel Documentation, "eBPF Documentation &amp; eXpress Data Path (XDP) Specification," kernel.org, 2026. [Online]. Available: https://docs.kernel.org/bpf/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0000E6"/>
                </a:solidFill>
              </a:rPr>
              <a:t>[3]</a:t>
            </a:r>
            <a:r>
              <a:rPr sz="1500">
                <a:solidFill>
                  <a:srgbClr val="1E293B"/>
                </a:solidFill>
              </a:rPr>
              <a:t> Netfilter Core Team, "nftables: Next-Generation Linux Packet Classification Framework," netfilter.org, 2025. [Online]. Available: https://netfilter.org/projects/nftables/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0000E6"/>
                </a:solidFill>
              </a:rPr>
              <a:t>[4]</a:t>
            </a:r>
            <a:r>
              <a:rPr sz="1500">
                <a:solidFill>
                  <a:srgbClr val="1E293B"/>
                </a:solidFill>
              </a:rPr>
              <a:t> T. Høiland-Jørgensen, J. D. Brouer, D. Borkmann, J. Fastabend, T. Herbert, and H. B. Christensen, "The eXpress Data Path: Fast Programmable Packet Processing in the Linux Kernel," in Proc. ACM CoNEXT, 2018, pp. 54–66.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0000E6"/>
                </a:solidFill>
              </a:rPr>
              <a:t>[5]</a:t>
            </a:r>
            <a:r>
              <a:rPr sz="1500">
                <a:solidFill>
                  <a:srgbClr val="1E293B"/>
                </a:solidFill>
              </a:rPr>
              <a:t> A. Vieira, M. Rocha, and R. L. Aguiar, "Fast In-Kernel DDoS Mitigation and Rate Limiting with eBPF/XDP," IEEE Transactions on Network and Service Management, vol. 21, no. 2, pp. 1420–1434, 2024.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9260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1776</Words>
  <Application>Microsoft Office PowerPoint</Application>
  <PresentationFormat>Widescreen</PresentationFormat>
  <Paragraphs>149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Prarthana Nithin</dc:creator>
  <cp:keywords/>
  <dc:description>generated using python-pptx</dc:description>
  <cp:lastModifiedBy>Richa Felix-10 B</cp:lastModifiedBy>
  <cp:revision>5</cp:revision>
  <dcterms:created xsi:type="dcterms:W3CDTF">2013-01-27T09:14:16Z</dcterms:created>
  <dcterms:modified xsi:type="dcterms:W3CDTF">2026-10-14T15:32:55Z</dcterms:modified>
  <cp:category/>
</cp:coreProperties>
</file>